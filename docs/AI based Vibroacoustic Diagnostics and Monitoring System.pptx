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58" r:id="rId7"/>
    <p:sldId id="259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124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1C7-9CE4-4D41-8170-7739EAE7BA1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1329-93AA-4D6F-968F-EC5AEAC34A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20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1C7-9CE4-4D41-8170-7739EAE7BA1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1329-93AA-4D6F-968F-EC5AEAC34A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9969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1C7-9CE4-4D41-8170-7739EAE7BA1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1329-93AA-4D6F-968F-EC5AEAC34A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801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1C7-9CE4-4D41-8170-7739EAE7BA1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1329-93AA-4D6F-968F-EC5AEAC34A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011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1C7-9CE4-4D41-8170-7739EAE7BA1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1329-93AA-4D6F-968F-EC5AEAC34A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50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1C7-9CE4-4D41-8170-7739EAE7BA1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1329-93AA-4D6F-968F-EC5AEAC34A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314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1C7-9CE4-4D41-8170-7739EAE7BA1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1329-93AA-4D6F-968F-EC5AEAC34A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81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1C7-9CE4-4D41-8170-7739EAE7BA1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1329-93AA-4D6F-968F-EC5AEAC34A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116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1C7-9CE4-4D41-8170-7739EAE7BA1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1329-93AA-4D6F-968F-EC5AEAC34A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73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1C7-9CE4-4D41-8170-7739EAE7BA1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1329-93AA-4D6F-968F-EC5AEAC34A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85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961C7-9CE4-4D41-8170-7739EAE7BA1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31329-93AA-4D6F-968F-EC5AEAC34A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182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961C7-9CE4-4D41-8170-7739EAE7BA18}" type="datetimeFigureOut">
              <a:rPr lang="ru-RU" smtClean="0"/>
              <a:t>04.05.2026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31329-93AA-4D6F-968F-EC5AEAC34A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1041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980728"/>
            <a:ext cx="7772400" cy="187220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AI Based </a:t>
            </a:r>
            <a:r>
              <a:rPr lang="en-US" smtClean="0"/>
              <a:t>Vibroacoustic</a:t>
            </a:r>
            <a:r>
              <a:rPr lang="en-US" dirty="0" smtClean="0"/>
              <a:t> Machinery State Diagnostics and Monitoring </a:t>
            </a:r>
            <a:r>
              <a:rPr lang="en-US" dirty="0"/>
              <a:t>S</a:t>
            </a:r>
            <a:r>
              <a:rPr lang="en-US" dirty="0" smtClean="0"/>
              <a:t>ystem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082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936104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Block Diagram of the Hardware part</a:t>
            </a:r>
            <a:br>
              <a:rPr lang="en-US" sz="3600" dirty="0" smtClean="0"/>
            </a:br>
            <a:r>
              <a:rPr lang="en-US" sz="3600" dirty="0" smtClean="0"/>
              <a:t>of the </a:t>
            </a:r>
            <a:r>
              <a:rPr lang="en-US" sz="3600" dirty="0"/>
              <a:t>S</a:t>
            </a:r>
            <a:r>
              <a:rPr lang="en-US" sz="3600" dirty="0" smtClean="0"/>
              <a:t>ystem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11560" y="3209486"/>
            <a:ext cx="1296144" cy="14401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Machinery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195736" y="3209486"/>
            <a:ext cx="1368152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Sensors </a:t>
            </a:r>
            <a:r>
              <a:rPr lang="en-US" sz="1400" dirty="0" smtClean="0">
                <a:solidFill>
                  <a:schemeClr val="tx1"/>
                </a:solidFill>
              </a:rPr>
              <a:t>(microphones, accelerometers, temperature)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851920" y="3209486"/>
            <a:ext cx="1440160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Preamplifiers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580112" y="3212976"/>
            <a:ext cx="1296144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Analog to Digital Converters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smtClean="0">
                <a:solidFill>
                  <a:schemeClr val="tx1"/>
                </a:solidFill>
              </a:rPr>
              <a:t>ADCs)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7164288" y="3212976"/>
            <a:ext cx="1296144" cy="1440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PC_1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transmitter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195736" y="5085184"/>
            <a:ext cx="6264696" cy="1152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Power Supply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Стрелка вверх 10"/>
          <p:cNvSpPr/>
          <p:nvPr/>
        </p:nvSpPr>
        <p:spPr>
          <a:xfrm>
            <a:off x="4427984" y="4649646"/>
            <a:ext cx="288032" cy="432048"/>
          </a:xfrm>
          <a:prstGeom prst="upArrow">
            <a:avLst/>
          </a:prstGeom>
          <a:solidFill>
            <a:schemeClr val="tx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верх 11"/>
          <p:cNvSpPr/>
          <p:nvPr/>
        </p:nvSpPr>
        <p:spPr>
          <a:xfrm>
            <a:off x="6084168" y="4675088"/>
            <a:ext cx="288032" cy="432048"/>
          </a:xfrm>
          <a:prstGeom prst="upArrow">
            <a:avLst/>
          </a:prstGeom>
          <a:solidFill>
            <a:schemeClr val="tx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трелка вверх 12"/>
          <p:cNvSpPr/>
          <p:nvPr/>
        </p:nvSpPr>
        <p:spPr>
          <a:xfrm>
            <a:off x="7668344" y="4653136"/>
            <a:ext cx="288032" cy="432048"/>
          </a:xfrm>
          <a:prstGeom prst="upArrow">
            <a:avLst/>
          </a:prstGeom>
          <a:solidFill>
            <a:schemeClr val="tx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право 13"/>
          <p:cNvSpPr/>
          <p:nvPr/>
        </p:nvSpPr>
        <p:spPr>
          <a:xfrm>
            <a:off x="1907704" y="3821554"/>
            <a:ext cx="288032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 вправо 14"/>
          <p:cNvSpPr/>
          <p:nvPr/>
        </p:nvSpPr>
        <p:spPr>
          <a:xfrm>
            <a:off x="3563888" y="3825044"/>
            <a:ext cx="288032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Стрелка вправо 15"/>
          <p:cNvSpPr/>
          <p:nvPr/>
        </p:nvSpPr>
        <p:spPr>
          <a:xfrm>
            <a:off x="5292080" y="3821554"/>
            <a:ext cx="288032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трелка вправо 16"/>
          <p:cNvSpPr/>
          <p:nvPr/>
        </p:nvSpPr>
        <p:spPr>
          <a:xfrm>
            <a:off x="6876256" y="3825044"/>
            <a:ext cx="288032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Блок-схема: магнитный диск 17"/>
          <p:cNvSpPr/>
          <p:nvPr/>
        </p:nvSpPr>
        <p:spPr>
          <a:xfrm>
            <a:off x="7380312" y="1412777"/>
            <a:ext cx="864096" cy="1080120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  <a:r>
              <a:rPr lang="en-US" dirty="0" smtClean="0">
                <a:solidFill>
                  <a:schemeClr val="tx1"/>
                </a:solidFill>
              </a:rPr>
              <a:t>loud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Стрелка вверх 18"/>
          <p:cNvSpPr/>
          <p:nvPr/>
        </p:nvSpPr>
        <p:spPr>
          <a:xfrm>
            <a:off x="7668344" y="2492897"/>
            <a:ext cx="288032" cy="720079"/>
          </a:xfrm>
          <a:prstGeom prst="upArrow">
            <a:avLst/>
          </a:prstGeom>
          <a:solidFill>
            <a:schemeClr val="accent1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трелка вверх 19"/>
          <p:cNvSpPr/>
          <p:nvPr/>
        </p:nvSpPr>
        <p:spPr>
          <a:xfrm>
            <a:off x="2735796" y="4653136"/>
            <a:ext cx="288032" cy="432048"/>
          </a:xfrm>
          <a:prstGeom prst="upArrow">
            <a:avLst/>
          </a:prstGeom>
          <a:solidFill>
            <a:schemeClr val="tx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5580112" y="1412776"/>
            <a:ext cx="1296144" cy="10801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PC_2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" name="Стрелка влево 2"/>
          <p:cNvSpPr/>
          <p:nvPr/>
        </p:nvSpPr>
        <p:spPr>
          <a:xfrm>
            <a:off x="6876256" y="1846633"/>
            <a:ext cx="504056" cy="21240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2023338" y="2705430"/>
            <a:ext cx="6653118" cy="2185682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39752" y="2708920"/>
            <a:ext cx="2520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Data Collection Setup</a:t>
            </a:r>
            <a:endParaRPr lang="ru-RU" sz="2000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3347863" y="1268760"/>
            <a:ext cx="3686599" cy="1368152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47863" y="1552726"/>
            <a:ext cx="2520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Model Training Part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2101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1196" y="44624"/>
            <a:ext cx="8229600" cy="1080120"/>
          </a:xfrm>
        </p:spPr>
        <p:txBody>
          <a:bodyPr>
            <a:normAutofit/>
          </a:bodyPr>
          <a:lstStyle/>
          <a:p>
            <a:r>
              <a:rPr lang="en-US" sz="2400" dirty="0"/>
              <a:t>Block Diagram </a:t>
            </a:r>
            <a:r>
              <a:rPr lang="en-US" sz="2400" dirty="0" smtClean="0"/>
              <a:t>of </a:t>
            </a:r>
            <a:r>
              <a:rPr lang="en-US" sz="2400" dirty="0" smtClean="0"/>
              <a:t>the </a:t>
            </a:r>
            <a:r>
              <a:rPr lang="en-US" sz="2400" dirty="0"/>
              <a:t>main piece of Software </a:t>
            </a:r>
            <a:r>
              <a:rPr lang="en-US" sz="2400" dirty="0"/>
              <a:t>part</a:t>
            </a:r>
            <a:br>
              <a:rPr lang="en-US" sz="2400" dirty="0"/>
            </a:br>
            <a:r>
              <a:rPr lang="en-US" sz="2400" dirty="0"/>
              <a:t>of the System (Data Collection and Training Stage)</a:t>
            </a:r>
            <a:endParaRPr lang="ru-RU" sz="24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51520" y="3861048"/>
            <a:ext cx="8568952" cy="2592288"/>
          </a:xfrm>
          <a:prstGeom prst="rect">
            <a:avLst/>
          </a:prstGeom>
          <a:noFill/>
          <a:ln w="25400">
            <a:solidFill>
              <a:schemeClr val="tx2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Блок-схема: магнитный диск 17"/>
          <p:cNvSpPr/>
          <p:nvPr/>
        </p:nvSpPr>
        <p:spPr>
          <a:xfrm>
            <a:off x="5895026" y="1494680"/>
            <a:ext cx="864096" cy="1080120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  <a:r>
              <a:rPr lang="en-US" dirty="0" smtClean="0">
                <a:solidFill>
                  <a:schemeClr val="tx1"/>
                </a:solidFill>
              </a:rPr>
              <a:t>loud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395536" y="5299698"/>
            <a:ext cx="1080120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541730" y="552720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Driver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1835696" y="5299698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1835696" y="5537141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Framework</a:t>
            </a:r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395536" y="2564904"/>
            <a:ext cx="1080120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ADC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7304602" y="4064298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7308304" y="4355812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File System</a:t>
            </a:r>
            <a:endParaRPr lang="ru-RU" dirty="0"/>
          </a:p>
        </p:txBody>
      </p:sp>
      <p:sp>
        <p:nvSpPr>
          <p:cNvPr id="42" name="Прямоугольник 41"/>
          <p:cNvSpPr/>
          <p:nvPr/>
        </p:nvSpPr>
        <p:spPr>
          <a:xfrm>
            <a:off x="3707904" y="5300611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/>
          <p:cNvSpPr txBox="1"/>
          <p:nvPr/>
        </p:nvSpPr>
        <p:spPr>
          <a:xfrm>
            <a:off x="3707904" y="5229200"/>
            <a:ext cx="13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 collection module</a:t>
            </a:r>
            <a:endParaRPr lang="ru-RU" dirty="0"/>
          </a:p>
        </p:txBody>
      </p:sp>
      <p:sp>
        <p:nvSpPr>
          <p:cNvPr id="44" name="Стрелка вниз 43"/>
          <p:cNvSpPr/>
          <p:nvPr/>
        </p:nvSpPr>
        <p:spPr>
          <a:xfrm>
            <a:off x="801670" y="3501007"/>
            <a:ext cx="267852" cy="1795147"/>
          </a:xfrm>
          <a:prstGeom prst="downArrow">
            <a:avLst/>
          </a:prstGeom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Стрелка вправо 44"/>
          <p:cNvSpPr/>
          <p:nvPr/>
        </p:nvSpPr>
        <p:spPr>
          <a:xfrm>
            <a:off x="1475656" y="5603856"/>
            <a:ext cx="36004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Стрелка вправо 45"/>
          <p:cNvSpPr/>
          <p:nvPr/>
        </p:nvSpPr>
        <p:spPr>
          <a:xfrm>
            <a:off x="3203848" y="5623734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Стрелка вверх 46"/>
          <p:cNvSpPr/>
          <p:nvPr/>
        </p:nvSpPr>
        <p:spPr>
          <a:xfrm>
            <a:off x="6183058" y="2596261"/>
            <a:ext cx="288032" cy="1478191"/>
          </a:xfrm>
          <a:prstGeom prst="upArrow">
            <a:avLst/>
          </a:prstGeom>
          <a:solidFill>
            <a:schemeClr val="accent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/>
          <p:cNvSpPr txBox="1"/>
          <p:nvPr/>
        </p:nvSpPr>
        <p:spPr>
          <a:xfrm>
            <a:off x="2278808" y="1593666"/>
            <a:ext cx="1562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 Preprocessing</a:t>
            </a:r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2267744" y="1484784"/>
            <a:ext cx="157311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/>
          <p:cNvSpPr/>
          <p:nvPr/>
        </p:nvSpPr>
        <p:spPr>
          <a:xfrm>
            <a:off x="4211960" y="1484784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/>
          <p:cNvSpPr txBox="1"/>
          <p:nvPr/>
        </p:nvSpPr>
        <p:spPr>
          <a:xfrm>
            <a:off x="4211960" y="1722227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Framework</a:t>
            </a:r>
            <a:endParaRPr lang="ru-RU" dirty="0"/>
          </a:p>
        </p:txBody>
      </p:sp>
      <p:sp>
        <p:nvSpPr>
          <p:cNvPr id="4" name="Стрелка влево 3"/>
          <p:cNvSpPr/>
          <p:nvPr/>
        </p:nvSpPr>
        <p:spPr>
          <a:xfrm>
            <a:off x="5580112" y="1805358"/>
            <a:ext cx="314914" cy="2229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Стрелка влево 31"/>
          <p:cNvSpPr/>
          <p:nvPr/>
        </p:nvSpPr>
        <p:spPr>
          <a:xfrm>
            <a:off x="3840856" y="1795420"/>
            <a:ext cx="371104" cy="2229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Стрелка вправо 52"/>
          <p:cNvSpPr/>
          <p:nvPr/>
        </p:nvSpPr>
        <p:spPr>
          <a:xfrm>
            <a:off x="7011150" y="5625244"/>
            <a:ext cx="293452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Стрелка вниз 53"/>
          <p:cNvSpPr/>
          <p:nvPr/>
        </p:nvSpPr>
        <p:spPr>
          <a:xfrm>
            <a:off x="803848" y="2018364"/>
            <a:ext cx="267852" cy="546540"/>
          </a:xfrm>
          <a:prstGeom prst="downArrow">
            <a:avLst/>
          </a:prstGeom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рямоугольник 54"/>
          <p:cNvSpPr/>
          <p:nvPr/>
        </p:nvSpPr>
        <p:spPr>
          <a:xfrm>
            <a:off x="395536" y="1412776"/>
            <a:ext cx="1080120" cy="6787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Sensors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56" name="Прямоугольник 55"/>
          <p:cNvSpPr/>
          <p:nvPr/>
        </p:nvSpPr>
        <p:spPr>
          <a:xfrm>
            <a:off x="7308304" y="5288434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/>
          <p:cNvSpPr txBox="1"/>
          <p:nvPr/>
        </p:nvSpPr>
        <p:spPr>
          <a:xfrm>
            <a:off x="7317426" y="554859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Framework</a:t>
            </a:r>
            <a:endParaRPr lang="ru-RU" dirty="0"/>
          </a:p>
        </p:txBody>
      </p:sp>
      <p:sp>
        <p:nvSpPr>
          <p:cNvPr id="58" name="Стрелка вправо 57"/>
          <p:cNvSpPr/>
          <p:nvPr/>
        </p:nvSpPr>
        <p:spPr>
          <a:xfrm>
            <a:off x="5076056" y="5625244"/>
            <a:ext cx="566942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4139952" y="2780928"/>
            <a:ext cx="1080120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4139952" y="3031201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Model</a:t>
            </a:r>
            <a:endParaRPr lang="ru-RU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2411760" y="2780928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/>
          <p:cNvSpPr txBox="1"/>
          <p:nvPr/>
        </p:nvSpPr>
        <p:spPr>
          <a:xfrm>
            <a:off x="2411760" y="2892701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Learning Algorithm</a:t>
            </a:r>
            <a:endParaRPr lang="ru-RU" dirty="0"/>
          </a:p>
        </p:txBody>
      </p:sp>
      <p:sp>
        <p:nvSpPr>
          <p:cNvPr id="63" name="Стрелка вниз 62"/>
          <p:cNvSpPr/>
          <p:nvPr/>
        </p:nvSpPr>
        <p:spPr>
          <a:xfrm>
            <a:off x="2928286" y="2348880"/>
            <a:ext cx="25202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Стрелка вправо 63"/>
          <p:cNvSpPr/>
          <p:nvPr/>
        </p:nvSpPr>
        <p:spPr>
          <a:xfrm>
            <a:off x="3779912" y="3107855"/>
            <a:ext cx="36004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2267744" y="2420888"/>
            <a:ext cx="3312368" cy="129568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TextBox 65"/>
          <p:cNvSpPr txBox="1"/>
          <p:nvPr/>
        </p:nvSpPr>
        <p:spPr>
          <a:xfrm>
            <a:off x="3840856" y="241159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Framework</a:t>
            </a:r>
            <a:endParaRPr lang="ru-RU" dirty="0"/>
          </a:p>
        </p:txBody>
      </p:sp>
      <p:sp>
        <p:nvSpPr>
          <p:cNvPr id="67" name="TextBox 66"/>
          <p:cNvSpPr txBox="1"/>
          <p:nvPr/>
        </p:nvSpPr>
        <p:spPr>
          <a:xfrm>
            <a:off x="1079612" y="3979856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PC_1</a:t>
            </a:r>
            <a:endParaRPr lang="ru-RU" sz="20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1619672" y="1196752"/>
            <a:ext cx="4104456" cy="2592288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619672" y="1216430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PC_2</a:t>
            </a:r>
            <a:endParaRPr lang="ru-RU" sz="2000" dirty="0"/>
          </a:p>
        </p:txBody>
      </p:sp>
      <p:sp>
        <p:nvSpPr>
          <p:cNvPr id="50" name="Стрелка вверх 49"/>
          <p:cNvSpPr/>
          <p:nvPr/>
        </p:nvSpPr>
        <p:spPr>
          <a:xfrm>
            <a:off x="7844662" y="4928394"/>
            <a:ext cx="288032" cy="360040"/>
          </a:xfrm>
          <a:prstGeom prst="upArrow">
            <a:avLst/>
          </a:prstGeom>
          <a:solidFill>
            <a:schemeClr val="accent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рямоугольник 71"/>
          <p:cNvSpPr/>
          <p:nvPr/>
        </p:nvSpPr>
        <p:spPr>
          <a:xfrm>
            <a:off x="5642998" y="5300611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TextBox 72"/>
          <p:cNvSpPr txBox="1"/>
          <p:nvPr/>
        </p:nvSpPr>
        <p:spPr>
          <a:xfrm>
            <a:off x="5642998" y="5229200"/>
            <a:ext cx="13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</a:t>
            </a:r>
          </a:p>
          <a:p>
            <a:pPr algn="ctr"/>
            <a:r>
              <a:rPr lang="en-US" dirty="0" smtClean="0"/>
              <a:t>storage module</a:t>
            </a:r>
            <a:endParaRPr lang="ru-RU" dirty="0"/>
          </a:p>
        </p:txBody>
      </p:sp>
      <p:sp>
        <p:nvSpPr>
          <p:cNvPr id="78" name="Прямоугольник 77"/>
          <p:cNvSpPr/>
          <p:nvPr/>
        </p:nvSpPr>
        <p:spPr>
          <a:xfrm>
            <a:off x="5642998" y="4066362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TextBox 78"/>
          <p:cNvSpPr txBox="1"/>
          <p:nvPr/>
        </p:nvSpPr>
        <p:spPr>
          <a:xfrm>
            <a:off x="5701831" y="4311680"/>
            <a:ext cx="1250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Framework</a:t>
            </a:r>
            <a:endParaRPr lang="ru-RU" dirty="0"/>
          </a:p>
        </p:txBody>
      </p:sp>
      <p:sp>
        <p:nvSpPr>
          <p:cNvPr id="80" name="Стрелка вверх 79"/>
          <p:cNvSpPr/>
          <p:nvPr/>
        </p:nvSpPr>
        <p:spPr>
          <a:xfrm>
            <a:off x="6183058" y="4928394"/>
            <a:ext cx="288032" cy="360637"/>
          </a:xfrm>
          <a:prstGeom prst="upArrow">
            <a:avLst/>
          </a:prstGeom>
          <a:solidFill>
            <a:schemeClr val="accent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3" name="Прямая соединительная линия 82"/>
          <p:cNvCxnSpPr/>
          <p:nvPr/>
        </p:nvCxnSpPr>
        <p:spPr>
          <a:xfrm>
            <a:off x="3436349" y="6309320"/>
            <a:ext cx="3721527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/>
          <p:cNvCxnSpPr/>
          <p:nvPr/>
        </p:nvCxnSpPr>
        <p:spPr>
          <a:xfrm>
            <a:off x="3455876" y="5157192"/>
            <a:ext cx="3702000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единительная линия 85"/>
          <p:cNvCxnSpPr/>
          <p:nvPr/>
        </p:nvCxnSpPr>
        <p:spPr>
          <a:xfrm>
            <a:off x="3436349" y="5157192"/>
            <a:ext cx="0" cy="1152128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/>
          <p:cNvCxnSpPr/>
          <p:nvPr/>
        </p:nvCxnSpPr>
        <p:spPr>
          <a:xfrm>
            <a:off x="7157876" y="5157192"/>
            <a:ext cx="0" cy="1152128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781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1196" y="44624"/>
            <a:ext cx="8229600" cy="1080120"/>
          </a:xfrm>
        </p:spPr>
        <p:txBody>
          <a:bodyPr>
            <a:normAutofit/>
          </a:bodyPr>
          <a:lstStyle/>
          <a:p>
            <a:r>
              <a:rPr lang="en-US" sz="2400" dirty="0"/>
              <a:t>Block Diagram of the </a:t>
            </a:r>
            <a:r>
              <a:rPr lang="en-US" sz="2400" dirty="0" smtClean="0"/>
              <a:t>main piece of Software </a:t>
            </a:r>
            <a:r>
              <a:rPr lang="en-US" sz="2400" dirty="0"/>
              <a:t>part</a:t>
            </a:r>
            <a:br>
              <a:rPr lang="en-US" sz="2400" dirty="0"/>
            </a:br>
            <a:r>
              <a:rPr lang="en-US" sz="2400" dirty="0"/>
              <a:t>of the System (Diagnostics and Monitoring Stage)</a:t>
            </a:r>
            <a:endParaRPr lang="ru-RU" sz="24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51520" y="3861048"/>
            <a:ext cx="8568952" cy="2592288"/>
          </a:xfrm>
          <a:prstGeom prst="rect">
            <a:avLst/>
          </a:prstGeom>
          <a:noFill/>
          <a:ln w="25400">
            <a:solidFill>
              <a:schemeClr val="tx2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Блок-схема: магнитный диск 17"/>
          <p:cNvSpPr/>
          <p:nvPr/>
        </p:nvSpPr>
        <p:spPr>
          <a:xfrm>
            <a:off x="5895026" y="1494680"/>
            <a:ext cx="864096" cy="1080120"/>
          </a:xfrm>
          <a:prstGeom prst="flowChartMagneticDisk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  <a:r>
              <a:rPr lang="en-US" dirty="0" smtClean="0">
                <a:solidFill>
                  <a:schemeClr val="tx1"/>
                </a:solidFill>
              </a:rPr>
              <a:t>loud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395536" y="5299698"/>
            <a:ext cx="1080120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541730" y="552720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Driver</a:t>
            </a:r>
            <a:endParaRPr lang="ru-RU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1835696" y="5299698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1835696" y="5537141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Framework</a:t>
            </a:r>
            <a:endParaRPr lang="ru-RU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395536" y="2564904"/>
            <a:ext cx="1080120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ADC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7304602" y="4064298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/>
          <p:cNvSpPr txBox="1"/>
          <p:nvPr/>
        </p:nvSpPr>
        <p:spPr>
          <a:xfrm>
            <a:off x="7308304" y="4355812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File System</a:t>
            </a:r>
            <a:endParaRPr lang="ru-RU" dirty="0"/>
          </a:p>
        </p:txBody>
      </p:sp>
      <p:sp>
        <p:nvSpPr>
          <p:cNvPr id="42" name="Прямоугольник 41"/>
          <p:cNvSpPr/>
          <p:nvPr/>
        </p:nvSpPr>
        <p:spPr>
          <a:xfrm>
            <a:off x="3707904" y="5300611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/>
          <p:cNvSpPr txBox="1"/>
          <p:nvPr/>
        </p:nvSpPr>
        <p:spPr>
          <a:xfrm>
            <a:off x="3707904" y="5229200"/>
            <a:ext cx="13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 collection module</a:t>
            </a:r>
            <a:endParaRPr lang="ru-RU" dirty="0"/>
          </a:p>
        </p:txBody>
      </p:sp>
      <p:sp>
        <p:nvSpPr>
          <p:cNvPr id="44" name="Стрелка вниз 43"/>
          <p:cNvSpPr/>
          <p:nvPr/>
        </p:nvSpPr>
        <p:spPr>
          <a:xfrm>
            <a:off x="801670" y="3501007"/>
            <a:ext cx="267852" cy="1795147"/>
          </a:xfrm>
          <a:prstGeom prst="downArrow">
            <a:avLst/>
          </a:prstGeom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Стрелка вправо 44"/>
          <p:cNvSpPr/>
          <p:nvPr/>
        </p:nvSpPr>
        <p:spPr>
          <a:xfrm>
            <a:off x="1475656" y="5603856"/>
            <a:ext cx="36004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Стрелка вправо 45"/>
          <p:cNvSpPr/>
          <p:nvPr/>
        </p:nvSpPr>
        <p:spPr>
          <a:xfrm>
            <a:off x="3203848" y="5623734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Стрелка вверх 46"/>
          <p:cNvSpPr/>
          <p:nvPr/>
        </p:nvSpPr>
        <p:spPr>
          <a:xfrm>
            <a:off x="6183058" y="2596261"/>
            <a:ext cx="288032" cy="1478191"/>
          </a:xfrm>
          <a:prstGeom prst="upArrow">
            <a:avLst/>
          </a:prstGeom>
          <a:solidFill>
            <a:schemeClr val="accent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/>
          <p:cNvSpPr txBox="1"/>
          <p:nvPr/>
        </p:nvSpPr>
        <p:spPr>
          <a:xfrm>
            <a:off x="2278808" y="1593666"/>
            <a:ext cx="1562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 Preprocessing</a:t>
            </a:r>
            <a:endParaRPr lang="ru-RU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2267744" y="1484784"/>
            <a:ext cx="157311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/>
          <p:cNvSpPr/>
          <p:nvPr/>
        </p:nvSpPr>
        <p:spPr>
          <a:xfrm>
            <a:off x="4211960" y="1484784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/>
          <p:cNvSpPr txBox="1"/>
          <p:nvPr/>
        </p:nvSpPr>
        <p:spPr>
          <a:xfrm>
            <a:off x="4211960" y="1722227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Framework</a:t>
            </a:r>
            <a:endParaRPr lang="ru-RU" dirty="0"/>
          </a:p>
        </p:txBody>
      </p:sp>
      <p:sp>
        <p:nvSpPr>
          <p:cNvPr id="4" name="Стрелка влево 3"/>
          <p:cNvSpPr/>
          <p:nvPr/>
        </p:nvSpPr>
        <p:spPr>
          <a:xfrm>
            <a:off x="5580112" y="1805358"/>
            <a:ext cx="314914" cy="2229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Стрелка влево 31"/>
          <p:cNvSpPr/>
          <p:nvPr/>
        </p:nvSpPr>
        <p:spPr>
          <a:xfrm>
            <a:off x="3840856" y="1795420"/>
            <a:ext cx="371104" cy="2229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Стрелка вправо 52"/>
          <p:cNvSpPr/>
          <p:nvPr/>
        </p:nvSpPr>
        <p:spPr>
          <a:xfrm>
            <a:off x="7011150" y="5625244"/>
            <a:ext cx="293452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Стрелка вниз 53"/>
          <p:cNvSpPr/>
          <p:nvPr/>
        </p:nvSpPr>
        <p:spPr>
          <a:xfrm>
            <a:off x="803848" y="2018364"/>
            <a:ext cx="267852" cy="546540"/>
          </a:xfrm>
          <a:prstGeom prst="downArrow">
            <a:avLst/>
          </a:prstGeom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рямоугольник 54"/>
          <p:cNvSpPr/>
          <p:nvPr/>
        </p:nvSpPr>
        <p:spPr>
          <a:xfrm>
            <a:off x="395536" y="1412776"/>
            <a:ext cx="1080120" cy="6787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Sensors</a:t>
            </a: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56" name="Прямоугольник 55"/>
          <p:cNvSpPr/>
          <p:nvPr/>
        </p:nvSpPr>
        <p:spPr>
          <a:xfrm>
            <a:off x="7308304" y="5288434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/>
          <p:cNvSpPr txBox="1"/>
          <p:nvPr/>
        </p:nvSpPr>
        <p:spPr>
          <a:xfrm>
            <a:off x="7317426" y="554859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Framework</a:t>
            </a:r>
            <a:endParaRPr lang="ru-RU" dirty="0"/>
          </a:p>
        </p:txBody>
      </p:sp>
      <p:sp>
        <p:nvSpPr>
          <p:cNvPr id="58" name="Стрелка вправо 57"/>
          <p:cNvSpPr/>
          <p:nvPr/>
        </p:nvSpPr>
        <p:spPr>
          <a:xfrm>
            <a:off x="5076056" y="5625244"/>
            <a:ext cx="566942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4139952" y="2780928"/>
            <a:ext cx="1080120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4139952" y="3031201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Model</a:t>
            </a:r>
            <a:endParaRPr lang="ru-RU" dirty="0"/>
          </a:p>
        </p:txBody>
      </p:sp>
      <p:sp>
        <p:nvSpPr>
          <p:cNvPr id="61" name="Прямоугольник 60"/>
          <p:cNvSpPr/>
          <p:nvPr/>
        </p:nvSpPr>
        <p:spPr>
          <a:xfrm>
            <a:off x="2411760" y="2780928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/>
          <p:cNvSpPr txBox="1"/>
          <p:nvPr/>
        </p:nvSpPr>
        <p:spPr>
          <a:xfrm>
            <a:off x="2411760" y="2892701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Learning Algorithm</a:t>
            </a:r>
            <a:endParaRPr lang="ru-RU" dirty="0"/>
          </a:p>
        </p:txBody>
      </p:sp>
      <p:sp>
        <p:nvSpPr>
          <p:cNvPr id="63" name="Стрелка вниз 62"/>
          <p:cNvSpPr/>
          <p:nvPr/>
        </p:nvSpPr>
        <p:spPr>
          <a:xfrm>
            <a:off x="2928286" y="2348880"/>
            <a:ext cx="252028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Стрелка вправо 63"/>
          <p:cNvSpPr/>
          <p:nvPr/>
        </p:nvSpPr>
        <p:spPr>
          <a:xfrm>
            <a:off x="3779912" y="3107855"/>
            <a:ext cx="360040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Прямоугольник 64"/>
          <p:cNvSpPr/>
          <p:nvPr/>
        </p:nvSpPr>
        <p:spPr>
          <a:xfrm>
            <a:off x="2267744" y="2420888"/>
            <a:ext cx="3312368" cy="1295687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TextBox 65"/>
          <p:cNvSpPr txBox="1"/>
          <p:nvPr/>
        </p:nvSpPr>
        <p:spPr>
          <a:xfrm>
            <a:off x="3840856" y="241159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Framework</a:t>
            </a:r>
            <a:endParaRPr lang="ru-RU" dirty="0"/>
          </a:p>
        </p:txBody>
      </p:sp>
      <p:sp>
        <p:nvSpPr>
          <p:cNvPr id="67" name="TextBox 66"/>
          <p:cNvSpPr txBox="1"/>
          <p:nvPr/>
        </p:nvSpPr>
        <p:spPr>
          <a:xfrm>
            <a:off x="1079612" y="3979856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PC_1</a:t>
            </a:r>
            <a:endParaRPr lang="ru-RU" sz="20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1619672" y="1196752"/>
            <a:ext cx="4104456" cy="2592288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619672" y="1216430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PC_2</a:t>
            </a:r>
            <a:endParaRPr lang="ru-RU" sz="2000" dirty="0"/>
          </a:p>
        </p:txBody>
      </p:sp>
      <p:sp>
        <p:nvSpPr>
          <p:cNvPr id="50" name="Стрелка вверх 49"/>
          <p:cNvSpPr/>
          <p:nvPr/>
        </p:nvSpPr>
        <p:spPr>
          <a:xfrm>
            <a:off x="7844662" y="4928394"/>
            <a:ext cx="288032" cy="360040"/>
          </a:xfrm>
          <a:prstGeom prst="upArrow">
            <a:avLst/>
          </a:prstGeom>
          <a:solidFill>
            <a:schemeClr val="accent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рямоугольник 50"/>
          <p:cNvSpPr/>
          <p:nvPr/>
        </p:nvSpPr>
        <p:spPr>
          <a:xfrm>
            <a:off x="2199438" y="4076475"/>
            <a:ext cx="2804610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339752" y="4005064"/>
            <a:ext cx="13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 processing module</a:t>
            </a:r>
            <a:endParaRPr lang="ru-RU" dirty="0"/>
          </a:p>
        </p:txBody>
      </p:sp>
      <p:sp>
        <p:nvSpPr>
          <p:cNvPr id="71" name="Стрелка вверх 70"/>
          <p:cNvSpPr/>
          <p:nvPr/>
        </p:nvSpPr>
        <p:spPr>
          <a:xfrm>
            <a:off x="4247964" y="4940571"/>
            <a:ext cx="288032" cy="347863"/>
          </a:xfrm>
          <a:prstGeom prst="upArrow">
            <a:avLst/>
          </a:prstGeom>
          <a:solidFill>
            <a:schemeClr val="accent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рямоугольник 71"/>
          <p:cNvSpPr/>
          <p:nvPr/>
        </p:nvSpPr>
        <p:spPr>
          <a:xfrm>
            <a:off x="5642998" y="5300611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TextBox 72"/>
          <p:cNvSpPr txBox="1"/>
          <p:nvPr/>
        </p:nvSpPr>
        <p:spPr>
          <a:xfrm>
            <a:off x="5642998" y="5229200"/>
            <a:ext cx="13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</a:t>
            </a:r>
          </a:p>
          <a:p>
            <a:pPr algn="ctr"/>
            <a:r>
              <a:rPr lang="en-US" dirty="0" smtClean="0"/>
              <a:t>storage module</a:t>
            </a:r>
            <a:endParaRPr lang="ru-RU" dirty="0"/>
          </a:p>
        </p:txBody>
      </p:sp>
      <p:sp>
        <p:nvSpPr>
          <p:cNvPr id="74" name="Прямоугольник 73"/>
          <p:cNvSpPr/>
          <p:nvPr/>
        </p:nvSpPr>
        <p:spPr>
          <a:xfrm>
            <a:off x="3923928" y="4199669"/>
            <a:ext cx="1069056" cy="59748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TextBox 74"/>
          <p:cNvSpPr txBox="1"/>
          <p:nvPr/>
        </p:nvSpPr>
        <p:spPr>
          <a:xfrm>
            <a:off x="3995936" y="431374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Model</a:t>
            </a:r>
            <a:endParaRPr lang="ru-RU" dirty="0"/>
          </a:p>
        </p:txBody>
      </p:sp>
      <p:sp>
        <p:nvSpPr>
          <p:cNvPr id="70" name="Стрелка вправо 69"/>
          <p:cNvSpPr/>
          <p:nvPr/>
        </p:nvSpPr>
        <p:spPr>
          <a:xfrm>
            <a:off x="5004048" y="4401107"/>
            <a:ext cx="360040" cy="213164"/>
          </a:xfrm>
          <a:prstGeom prst="rightArrow">
            <a:avLst/>
          </a:prstGeom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TextBox 75"/>
          <p:cNvSpPr txBox="1"/>
          <p:nvPr/>
        </p:nvSpPr>
        <p:spPr>
          <a:xfrm>
            <a:off x="4951603" y="4097397"/>
            <a:ext cx="484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I/O</a:t>
            </a:r>
            <a:endParaRPr lang="ru-RU" dirty="0"/>
          </a:p>
        </p:txBody>
      </p:sp>
      <p:sp>
        <p:nvSpPr>
          <p:cNvPr id="77" name="Стрелка вниз 76"/>
          <p:cNvSpPr/>
          <p:nvPr/>
        </p:nvSpPr>
        <p:spPr>
          <a:xfrm>
            <a:off x="4499992" y="3650957"/>
            <a:ext cx="267852" cy="548711"/>
          </a:xfrm>
          <a:prstGeom prst="downArrow">
            <a:avLst/>
          </a:prstGeom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Прямоугольник 77"/>
          <p:cNvSpPr/>
          <p:nvPr/>
        </p:nvSpPr>
        <p:spPr>
          <a:xfrm>
            <a:off x="5642998" y="4066362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TextBox 78"/>
          <p:cNvSpPr txBox="1"/>
          <p:nvPr/>
        </p:nvSpPr>
        <p:spPr>
          <a:xfrm>
            <a:off x="5701831" y="4311680"/>
            <a:ext cx="1250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Framework</a:t>
            </a:r>
            <a:endParaRPr lang="ru-RU" dirty="0"/>
          </a:p>
        </p:txBody>
      </p:sp>
      <p:sp>
        <p:nvSpPr>
          <p:cNvPr id="80" name="Стрелка вверх 79"/>
          <p:cNvSpPr/>
          <p:nvPr/>
        </p:nvSpPr>
        <p:spPr>
          <a:xfrm>
            <a:off x="6183058" y="4928394"/>
            <a:ext cx="288032" cy="360637"/>
          </a:xfrm>
          <a:prstGeom prst="upArrow">
            <a:avLst/>
          </a:prstGeom>
          <a:solidFill>
            <a:schemeClr val="accent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979712" y="3979856"/>
            <a:ext cx="0" cy="1177336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/>
          <p:cNvCxnSpPr/>
          <p:nvPr/>
        </p:nvCxnSpPr>
        <p:spPr>
          <a:xfrm>
            <a:off x="5439580" y="3976199"/>
            <a:ext cx="0" cy="1180993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единительная линия 81"/>
          <p:cNvCxnSpPr/>
          <p:nvPr/>
        </p:nvCxnSpPr>
        <p:spPr>
          <a:xfrm>
            <a:off x="1991580" y="3976199"/>
            <a:ext cx="3448000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/>
          <p:cNvCxnSpPr/>
          <p:nvPr/>
        </p:nvCxnSpPr>
        <p:spPr>
          <a:xfrm>
            <a:off x="3436349" y="6309320"/>
            <a:ext cx="3721527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/>
          <p:cNvCxnSpPr/>
          <p:nvPr/>
        </p:nvCxnSpPr>
        <p:spPr>
          <a:xfrm>
            <a:off x="1983904" y="5157192"/>
            <a:ext cx="1452445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/>
          <p:cNvCxnSpPr/>
          <p:nvPr/>
        </p:nvCxnSpPr>
        <p:spPr>
          <a:xfrm>
            <a:off x="5433876" y="5157192"/>
            <a:ext cx="1724000" cy="0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Прямая соединительная линия 85"/>
          <p:cNvCxnSpPr/>
          <p:nvPr/>
        </p:nvCxnSpPr>
        <p:spPr>
          <a:xfrm>
            <a:off x="3436349" y="5157192"/>
            <a:ext cx="0" cy="1152128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/>
          <p:cNvCxnSpPr/>
          <p:nvPr/>
        </p:nvCxnSpPr>
        <p:spPr>
          <a:xfrm>
            <a:off x="7150109" y="5157192"/>
            <a:ext cx="0" cy="1152128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47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1196" y="44624"/>
            <a:ext cx="8229600" cy="1080120"/>
          </a:xfrm>
        </p:spPr>
        <p:txBody>
          <a:bodyPr>
            <a:normAutofit/>
          </a:bodyPr>
          <a:lstStyle/>
          <a:p>
            <a:r>
              <a:rPr lang="en-US" sz="2400" dirty="0"/>
              <a:t>Block Diagram of </a:t>
            </a:r>
            <a:r>
              <a:rPr lang="en-US" sz="2400" dirty="0" smtClean="0"/>
              <a:t>Software </a:t>
            </a:r>
            <a:r>
              <a:rPr lang="en-US" sz="2400" dirty="0"/>
              <a:t>part</a:t>
            </a:r>
            <a:br>
              <a:rPr lang="en-US" sz="2400" dirty="0"/>
            </a:br>
            <a:r>
              <a:rPr lang="en-US" sz="2400" dirty="0"/>
              <a:t>of the System </a:t>
            </a:r>
            <a:r>
              <a:rPr lang="en-US" sz="2400" dirty="0" smtClean="0"/>
              <a:t>(General Scheme)</a:t>
            </a:r>
            <a:endParaRPr lang="ru-RU" sz="24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11560" y="1196752"/>
            <a:ext cx="7632848" cy="5472608"/>
          </a:xfrm>
          <a:prstGeom prst="rect">
            <a:avLst/>
          </a:prstGeom>
          <a:noFill/>
          <a:ln w="25400">
            <a:solidFill>
              <a:schemeClr val="tx2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1835696" y="4437112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/>
          <p:cNvSpPr/>
          <p:nvPr/>
        </p:nvSpPr>
        <p:spPr>
          <a:xfrm>
            <a:off x="4283968" y="3284984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/>
          <p:cNvSpPr txBox="1"/>
          <p:nvPr/>
        </p:nvSpPr>
        <p:spPr>
          <a:xfrm>
            <a:off x="4283968" y="3213573"/>
            <a:ext cx="13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 collection module</a:t>
            </a:r>
            <a:endParaRPr lang="ru-RU" dirty="0"/>
          </a:p>
        </p:txBody>
      </p:sp>
      <p:sp>
        <p:nvSpPr>
          <p:cNvPr id="53" name="Стрелка вправо 52"/>
          <p:cNvSpPr/>
          <p:nvPr/>
        </p:nvSpPr>
        <p:spPr>
          <a:xfrm>
            <a:off x="2267744" y="3592084"/>
            <a:ext cx="2016225" cy="2498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/>
          <p:cNvSpPr txBox="1"/>
          <p:nvPr/>
        </p:nvSpPr>
        <p:spPr>
          <a:xfrm>
            <a:off x="755576" y="1444508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PC_1</a:t>
            </a:r>
            <a:endParaRPr lang="ru-RU" sz="2000" dirty="0"/>
          </a:p>
        </p:txBody>
      </p:sp>
      <p:sp>
        <p:nvSpPr>
          <p:cNvPr id="51" name="Прямоугольник 50"/>
          <p:cNvSpPr/>
          <p:nvPr/>
        </p:nvSpPr>
        <p:spPr>
          <a:xfrm>
            <a:off x="2718994" y="2270426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791000" y="2240809"/>
            <a:ext cx="1216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 processing module</a:t>
            </a:r>
            <a:endParaRPr lang="ru-RU" dirty="0"/>
          </a:p>
        </p:txBody>
      </p:sp>
      <p:sp>
        <p:nvSpPr>
          <p:cNvPr id="71" name="Стрелка вверх 70"/>
          <p:cNvSpPr/>
          <p:nvPr/>
        </p:nvSpPr>
        <p:spPr>
          <a:xfrm>
            <a:off x="4820024" y="2260665"/>
            <a:ext cx="288032" cy="1024319"/>
          </a:xfrm>
          <a:prstGeom prst="upArrow">
            <a:avLst/>
          </a:prstGeom>
          <a:solidFill>
            <a:schemeClr val="accent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рямоугольник 71"/>
          <p:cNvSpPr/>
          <p:nvPr/>
        </p:nvSpPr>
        <p:spPr>
          <a:xfrm>
            <a:off x="4274278" y="1377611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TextBox 72"/>
          <p:cNvSpPr txBox="1"/>
          <p:nvPr/>
        </p:nvSpPr>
        <p:spPr>
          <a:xfrm>
            <a:off x="4268713" y="1369633"/>
            <a:ext cx="13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</a:t>
            </a:r>
          </a:p>
          <a:p>
            <a:pPr algn="ctr"/>
            <a:r>
              <a:rPr lang="en-US" dirty="0" smtClean="0"/>
              <a:t>storage module</a:t>
            </a:r>
            <a:endParaRPr lang="ru-RU" dirty="0"/>
          </a:p>
        </p:txBody>
      </p:sp>
      <p:sp>
        <p:nvSpPr>
          <p:cNvPr id="78" name="Прямоугольник 77"/>
          <p:cNvSpPr/>
          <p:nvPr/>
        </p:nvSpPr>
        <p:spPr>
          <a:xfrm>
            <a:off x="4283968" y="4437112"/>
            <a:ext cx="1368152" cy="864096"/>
          </a:xfrm>
          <a:prstGeom prst="rect">
            <a:avLst/>
          </a:prstGeom>
          <a:noFill/>
          <a:ln w="317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TextBox 78"/>
          <p:cNvSpPr txBox="1"/>
          <p:nvPr/>
        </p:nvSpPr>
        <p:spPr>
          <a:xfrm>
            <a:off x="4342801" y="4545994"/>
            <a:ext cx="1250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Controller</a:t>
            </a:r>
          </a:p>
          <a:p>
            <a:pPr algn="ctr"/>
            <a:r>
              <a:rPr lang="en-US" dirty="0" smtClean="0"/>
              <a:t>Module</a:t>
            </a:r>
            <a:endParaRPr lang="ru-RU" dirty="0"/>
          </a:p>
        </p:txBody>
      </p:sp>
      <p:sp>
        <p:nvSpPr>
          <p:cNvPr id="88" name="TextBox 87"/>
          <p:cNvSpPr txBox="1"/>
          <p:nvPr/>
        </p:nvSpPr>
        <p:spPr>
          <a:xfrm>
            <a:off x="1894529" y="4545993"/>
            <a:ext cx="1250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Logg</a:t>
            </a:r>
            <a:r>
              <a:rPr lang="en-US" dirty="0" smtClean="0"/>
              <a:t>er</a:t>
            </a:r>
          </a:p>
          <a:p>
            <a:pPr algn="ctr"/>
            <a:r>
              <a:rPr lang="en-US" dirty="0" smtClean="0"/>
              <a:t>Module</a:t>
            </a:r>
            <a:endParaRPr lang="ru-RU" dirty="0"/>
          </a:p>
        </p:txBody>
      </p:sp>
      <p:sp>
        <p:nvSpPr>
          <p:cNvPr id="89" name="Прямоугольник 88"/>
          <p:cNvSpPr/>
          <p:nvPr/>
        </p:nvSpPr>
        <p:spPr>
          <a:xfrm>
            <a:off x="1838650" y="5445224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" name="TextBox 89"/>
          <p:cNvSpPr txBox="1"/>
          <p:nvPr/>
        </p:nvSpPr>
        <p:spPr>
          <a:xfrm>
            <a:off x="1894529" y="5571326"/>
            <a:ext cx="1250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Messenger</a:t>
            </a:r>
          </a:p>
          <a:p>
            <a:pPr algn="ctr"/>
            <a:r>
              <a:rPr lang="en-US" dirty="0" smtClean="0"/>
              <a:t>Module</a:t>
            </a:r>
            <a:endParaRPr lang="ru-RU" dirty="0"/>
          </a:p>
        </p:txBody>
      </p:sp>
      <p:sp>
        <p:nvSpPr>
          <p:cNvPr id="95" name="Прямоугольник 94"/>
          <p:cNvSpPr/>
          <p:nvPr/>
        </p:nvSpPr>
        <p:spPr>
          <a:xfrm>
            <a:off x="4279964" y="5589240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6" name="TextBox 95"/>
          <p:cNvSpPr txBox="1"/>
          <p:nvPr/>
        </p:nvSpPr>
        <p:spPr>
          <a:xfrm>
            <a:off x="4211960" y="5575953"/>
            <a:ext cx="1512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Configuration Reader</a:t>
            </a:r>
          </a:p>
          <a:p>
            <a:pPr algn="ctr"/>
            <a:r>
              <a:rPr lang="en-US" dirty="0" smtClean="0"/>
              <a:t>Module</a:t>
            </a:r>
            <a:endParaRPr lang="ru-RU" dirty="0"/>
          </a:p>
        </p:txBody>
      </p:sp>
      <p:sp>
        <p:nvSpPr>
          <p:cNvPr id="105" name="Прямоугольник 104"/>
          <p:cNvSpPr/>
          <p:nvPr/>
        </p:nvSpPr>
        <p:spPr>
          <a:xfrm>
            <a:off x="5828136" y="2270426"/>
            <a:ext cx="1368152" cy="86409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6" name="TextBox 105"/>
          <p:cNvSpPr txBox="1"/>
          <p:nvPr/>
        </p:nvSpPr>
        <p:spPr>
          <a:xfrm>
            <a:off x="5886969" y="2266734"/>
            <a:ext cx="12504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System Validation</a:t>
            </a:r>
          </a:p>
          <a:p>
            <a:pPr algn="ctr"/>
            <a:r>
              <a:rPr lang="en-US" dirty="0" smtClean="0"/>
              <a:t>Module</a:t>
            </a:r>
            <a:endParaRPr lang="ru-RU" dirty="0"/>
          </a:p>
        </p:txBody>
      </p:sp>
      <p:sp>
        <p:nvSpPr>
          <p:cNvPr id="3" name="Тройная стрелка влево/вправо/вверх 2"/>
          <p:cNvSpPr/>
          <p:nvPr/>
        </p:nvSpPr>
        <p:spPr>
          <a:xfrm>
            <a:off x="4099944" y="2260665"/>
            <a:ext cx="1728192" cy="583693"/>
          </a:xfrm>
          <a:prstGeom prst="leftRigh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/>
          <p:cNvCxnSpPr/>
          <p:nvPr/>
        </p:nvCxnSpPr>
        <p:spPr>
          <a:xfrm flipH="1" flipV="1">
            <a:off x="3191312" y="4869159"/>
            <a:ext cx="1082966" cy="1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Прямая со стрелкой 106"/>
          <p:cNvCxnSpPr/>
          <p:nvPr/>
        </p:nvCxnSpPr>
        <p:spPr>
          <a:xfrm flipH="1">
            <a:off x="3203850" y="5868766"/>
            <a:ext cx="28803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07"/>
          <p:cNvCxnSpPr>
            <a:stCxn id="78" idx="0"/>
            <a:endCxn id="42" idx="2"/>
          </p:cNvCxnSpPr>
          <p:nvPr/>
        </p:nvCxnSpPr>
        <p:spPr>
          <a:xfrm flipV="1">
            <a:off x="4968044" y="4149080"/>
            <a:ext cx="0" cy="288032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Прямая со стрелкой 109"/>
          <p:cNvCxnSpPr/>
          <p:nvPr/>
        </p:nvCxnSpPr>
        <p:spPr>
          <a:xfrm flipV="1">
            <a:off x="4959745" y="5287921"/>
            <a:ext cx="0" cy="288032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/>
          <p:cNvCxnSpPr/>
          <p:nvPr/>
        </p:nvCxnSpPr>
        <p:spPr>
          <a:xfrm flipV="1">
            <a:off x="6501941" y="3140968"/>
            <a:ext cx="0" cy="1512168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Прямая со стрелкой 111"/>
          <p:cNvCxnSpPr/>
          <p:nvPr/>
        </p:nvCxnSpPr>
        <p:spPr>
          <a:xfrm flipH="1">
            <a:off x="5642431" y="4653136"/>
            <a:ext cx="859510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/>
          <p:cNvCxnSpPr/>
          <p:nvPr/>
        </p:nvCxnSpPr>
        <p:spPr>
          <a:xfrm flipV="1">
            <a:off x="3491880" y="3106034"/>
            <a:ext cx="0" cy="2762732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/>
          <p:cNvCxnSpPr/>
          <p:nvPr/>
        </p:nvCxnSpPr>
        <p:spPr>
          <a:xfrm flipH="1">
            <a:off x="5636865" y="1809659"/>
            <a:ext cx="1876018" cy="0"/>
          </a:xfrm>
          <a:prstGeom prst="straightConnector1">
            <a:avLst/>
          </a:prstGeom>
          <a:ln w="158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Прямая со стрелкой 119"/>
          <p:cNvCxnSpPr/>
          <p:nvPr/>
        </p:nvCxnSpPr>
        <p:spPr>
          <a:xfrm flipH="1" flipV="1">
            <a:off x="7512135" y="1830965"/>
            <a:ext cx="374" cy="3203517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 стрелкой 121"/>
          <p:cNvCxnSpPr/>
          <p:nvPr/>
        </p:nvCxnSpPr>
        <p:spPr>
          <a:xfrm flipH="1">
            <a:off x="5652119" y="5030282"/>
            <a:ext cx="1860016" cy="0"/>
          </a:xfrm>
          <a:prstGeom prst="straightConnector1">
            <a:avLst/>
          </a:prstGeom>
          <a:ln w="158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Прямоугольник 129"/>
          <p:cNvSpPr/>
          <p:nvPr/>
        </p:nvSpPr>
        <p:spPr>
          <a:xfrm>
            <a:off x="1691680" y="1268760"/>
            <a:ext cx="5976664" cy="5328592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1835696" y="3350418"/>
            <a:ext cx="1535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 smtClean="0"/>
              <a:t>Sensors Data Flow</a:t>
            </a:r>
            <a:endParaRPr lang="ru-RU" sz="1400" i="1" dirty="0"/>
          </a:p>
        </p:txBody>
      </p:sp>
      <p:sp>
        <p:nvSpPr>
          <p:cNvPr id="132" name="Стрелка влево 131"/>
          <p:cNvSpPr/>
          <p:nvPr/>
        </p:nvSpPr>
        <p:spPr>
          <a:xfrm>
            <a:off x="3959364" y="1688826"/>
            <a:ext cx="314914" cy="241666"/>
          </a:xfrm>
          <a:prstGeom prst="leftArrow">
            <a:avLst/>
          </a:prstGeom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Стрелка влево 132"/>
          <p:cNvSpPr/>
          <p:nvPr/>
        </p:nvSpPr>
        <p:spPr>
          <a:xfrm>
            <a:off x="2404080" y="2581641"/>
            <a:ext cx="314914" cy="241666"/>
          </a:xfrm>
          <a:prstGeom prst="leftArrow">
            <a:avLst/>
          </a:prstGeom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622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72008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Equipment of the setup</a:t>
            </a: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980728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 smtClean="0"/>
              <a:t>1. Sensors:</a:t>
            </a:r>
          </a:p>
          <a:p>
            <a:pPr marL="0" indent="0">
              <a:buNone/>
            </a:pPr>
            <a:r>
              <a:rPr lang="en-US" sz="2000" dirty="0" smtClean="0"/>
              <a:t>	accelerometers (2 pieces);</a:t>
            </a:r>
          </a:p>
          <a:p>
            <a:pPr marL="0" indent="0"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m.b</a:t>
            </a:r>
            <a:r>
              <a:rPr lang="en-US" sz="2000" dirty="0" smtClean="0"/>
              <a:t>. microphones (2 pieces);</a:t>
            </a:r>
          </a:p>
          <a:p>
            <a:pPr marL="0" indent="0">
              <a:buNone/>
            </a:pPr>
            <a:r>
              <a:rPr lang="en-US" sz="2000" dirty="0" smtClean="0"/>
              <a:t>	</a:t>
            </a:r>
            <a:r>
              <a:rPr lang="en-US" sz="2000" dirty="0" err="1" smtClean="0">
                <a:solidFill>
                  <a:prstClr val="black"/>
                </a:solidFill>
              </a:rPr>
              <a:t>m.b</a:t>
            </a:r>
            <a:r>
              <a:rPr lang="en-US" sz="2000" dirty="0">
                <a:solidFill>
                  <a:prstClr val="black"/>
                </a:solidFill>
              </a:rPr>
              <a:t>. </a:t>
            </a:r>
            <a:r>
              <a:rPr lang="en-US" sz="2000" dirty="0" smtClean="0">
                <a:solidFill>
                  <a:srgbClr val="FF0000"/>
                </a:solidFill>
              </a:rPr>
              <a:t>temperature sensor </a:t>
            </a:r>
            <a:r>
              <a:rPr lang="en-US" sz="2000" dirty="0" smtClean="0">
                <a:solidFill>
                  <a:prstClr val="black"/>
                </a:solidFill>
              </a:rPr>
              <a:t>(1 piece).</a:t>
            </a:r>
            <a:endParaRPr lang="en-US" sz="2000" dirty="0" smtClean="0"/>
          </a:p>
          <a:p>
            <a:pPr lvl="0"/>
            <a:r>
              <a:rPr lang="en-US" sz="2000" dirty="0" smtClean="0">
                <a:solidFill>
                  <a:prstClr val="black"/>
                </a:solidFill>
              </a:rPr>
              <a:t>2. Preamplifiers (0-5 pieces, depends on type of accelerometers, microphones and ADC converter device, because some of sensors could contain preamplifiers and ADCs)</a:t>
            </a:r>
          </a:p>
          <a:p>
            <a:pPr lvl="0"/>
            <a:r>
              <a:rPr lang="en-US" sz="2000" dirty="0" smtClean="0">
                <a:solidFill>
                  <a:prstClr val="black"/>
                </a:solidFill>
              </a:rPr>
              <a:t>3. Analog to Digital Converters (up to 5 channels)</a:t>
            </a:r>
          </a:p>
          <a:p>
            <a:pPr lvl="0"/>
            <a:r>
              <a:rPr lang="en-US" sz="2000" dirty="0" smtClean="0">
                <a:solidFill>
                  <a:prstClr val="black"/>
                </a:solidFill>
              </a:rPr>
              <a:t>4. </a:t>
            </a:r>
            <a:r>
              <a:rPr lang="en-US" sz="2000" dirty="0" err="1" smtClean="0">
                <a:solidFill>
                  <a:prstClr val="black"/>
                </a:solidFill>
              </a:rPr>
              <a:t>m.b</a:t>
            </a:r>
            <a:r>
              <a:rPr lang="en-US" sz="2000" dirty="0" smtClean="0">
                <a:solidFill>
                  <a:prstClr val="black"/>
                </a:solidFill>
              </a:rPr>
              <a:t>. Phantom power supply for sensors (depends on type of sensors, preamplifiers and ADCs)</a:t>
            </a:r>
          </a:p>
          <a:p>
            <a:pPr lvl="0"/>
            <a:r>
              <a:rPr lang="en-US" sz="2000" dirty="0">
                <a:solidFill>
                  <a:prstClr val="black"/>
                </a:solidFill>
              </a:rPr>
              <a:t>5</a:t>
            </a:r>
            <a:r>
              <a:rPr lang="en-US" sz="2000" dirty="0" smtClean="0">
                <a:solidFill>
                  <a:prstClr val="black"/>
                </a:solidFill>
              </a:rPr>
              <a:t>. PC (</a:t>
            </a:r>
            <a:r>
              <a:rPr lang="en-US" sz="2000" dirty="0" err="1" smtClean="0">
                <a:solidFill>
                  <a:prstClr val="black"/>
                </a:solidFill>
              </a:rPr>
              <a:t>m.b</a:t>
            </a:r>
            <a:r>
              <a:rPr lang="en-US" sz="2000" dirty="0" smtClean="0">
                <a:solidFill>
                  <a:prstClr val="black"/>
                </a:solidFill>
              </a:rPr>
              <a:t>. IP67 protection class)</a:t>
            </a:r>
          </a:p>
          <a:p>
            <a:pPr lvl="0"/>
            <a:r>
              <a:rPr lang="en-US" sz="2000" dirty="0">
                <a:solidFill>
                  <a:prstClr val="black"/>
                </a:solidFill>
              </a:rPr>
              <a:t>6</a:t>
            </a:r>
            <a:r>
              <a:rPr lang="en-US" sz="2000" dirty="0" smtClean="0">
                <a:solidFill>
                  <a:prstClr val="black"/>
                </a:solidFill>
              </a:rPr>
              <a:t>. Communication device (some kind of modem or something like this)</a:t>
            </a:r>
          </a:p>
          <a:p>
            <a:pPr lvl="0"/>
            <a:r>
              <a:rPr lang="en-US" sz="2000" dirty="0">
                <a:solidFill>
                  <a:prstClr val="black"/>
                </a:solidFill>
              </a:rPr>
              <a:t>7</a:t>
            </a:r>
            <a:r>
              <a:rPr lang="en-US" sz="2000" dirty="0" smtClean="0">
                <a:solidFill>
                  <a:prstClr val="black"/>
                </a:solidFill>
              </a:rPr>
              <a:t>. </a:t>
            </a:r>
            <a:r>
              <a:rPr lang="en-US" sz="2000" dirty="0">
                <a:solidFill>
                  <a:prstClr val="black"/>
                </a:solidFill>
              </a:rPr>
              <a:t>Sealed Protection Box</a:t>
            </a:r>
            <a:endParaRPr lang="en-US" sz="2000" dirty="0" smtClean="0">
              <a:solidFill>
                <a:prstClr val="black"/>
              </a:solidFill>
            </a:endParaRPr>
          </a:p>
          <a:p>
            <a:pPr lvl="0"/>
            <a:r>
              <a:rPr lang="en-US" sz="2000" dirty="0" smtClean="0">
                <a:solidFill>
                  <a:prstClr val="black"/>
                </a:solidFill>
              </a:rPr>
              <a:t>8. </a:t>
            </a:r>
            <a:r>
              <a:rPr lang="en-US" sz="2000" dirty="0" err="1">
                <a:solidFill>
                  <a:prstClr val="black"/>
                </a:solidFill>
              </a:rPr>
              <a:t>m.b</a:t>
            </a:r>
            <a:r>
              <a:rPr lang="en-US" sz="2000" dirty="0">
                <a:solidFill>
                  <a:prstClr val="black"/>
                </a:solidFill>
              </a:rPr>
              <a:t>. UPS or something like that</a:t>
            </a:r>
            <a:endParaRPr lang="en-US" sz="2000" dirty="0" smtClean="0">
              <a:solidFill>
                <a:prstClr val="black"/>
              </a:solidFill>
            </a:endParaRPr>
          </a:p>
          <a:p>
            <a:pPr lvl="0"/>
            <a:r>
              <a:rPr lang="en-US" sz="2000" dirty="0" smtClean="0">
                <a:solidFill>
                  <a:prstClr val="black"/>
                </a:solidFill>
              </a:rPr>
              <a:t>9. </a:t>
            </a:r>
            <a:r>
              <a:rPr lang="en-US" sz="2000" dirty="0" err="1" smtClean="0">
                <a:solidFill>
                  <a:prstClr val="black"/>
                </a:solidFill>
              </a:rPr>
              <a:t>m.b</a:t>
            </a:r>
            <a:r>
              <a:rPr lang="en-US" sz="2000" dirty="0" smtClean="0">
                <a:solidFill>
                  <a:prstClr val="black"/>
                </a:solidFill>
              </a:rPr>
              <a:t>. Microphone stands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485589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</a:t>
            </a:r>
            <a:r>
              <a:rPr lang="en-US" smtClean="0"/>
              <a:t>be continued </a:t>
            </a:r>
            <a:r>
              <a:rPr lang="en-US" smtClean="0">
                <a:sym typeface="Wingdings" panose="05000000000000000000" pitchFamily="2" charset="2"/>
              </a:rPr>
              <a:t>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13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158</Words>
  <Application>Microsoft Office PowerPoint</Application>
  <PresentationFormat>Экран (4:3)</PresentationFormat>
  <Paragraphs>87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AI Based Vibroacoustic Machinery State Diagnostics and Monitoring System</vt:lpstr>
      <vt:lpstr>Block Diagram of the Hardware part of the System</vt:lpstr>
      <vt:lpstr>Block Diagram of the main piece of Software part of the System (Data Collection and Training Stage)</vt:lpstr>
      <vt:lpstr>Block Diagram of the main piece of Software part of the System (Diagnostics and Monitoring Stage)</vt:lpstr>
      <vt:lpstr>Block Diagram of Software part of the System (General Scheme)</vt:lpstr>
      <vt:lpstr>Equipment of the setup</vt:lpstr>
      <vt:lpstr>To be continued 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Vibroacoustic diagnostics and monitoring system</dc:title>
  <dc:creator>Dimi</dc:creator>
  <cp:lastModifiedBy>Dimi</cp:lastModifiedBy>
  <cp:revision>73</cp:revision>
  <dcterms:created xsi:type="dcterms:W3CDTF">2026-04-17T11:36:25Z</dcterms:created>
  <dcterms:modified xsi:type="dcterms:W3CDTF">2026-05-04T13:48:02Z</dcterms:modified>
</cp:coreProperties>
</file>